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84" d="100"/>
          <a:sy n="84" d="100"/>
        </p:scale>
        <p:origin x="30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29B08-93F3-EA00-4635-B3204620F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14EF6-4CBB-D71F-CB76-6635AFDE7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D6337-EA27-5F93-55BF-8C7347A3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62B3E-4D25-491A-BD3C-8520BE00BE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9C202-592A-6221-3A3F-050F6B22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704A0-EF75-F36B-2CF6-716EE0AEE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6F33-D9C8-4450-A933-931192249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912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F16F-A5B4-3D65-1D8B-D144F9101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8052D-88FB-DAA3-9A84-A8CA81DD9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F1209-6705-2263-5EB5-74EEAFA97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62B3E-4D25-491A-BD3C-8520BE00BE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DEFD3-51F5-3885-8E55-25EF7F82A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B4DE2-2DFC-07BE-8071-5AE010CED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6F33-D9C8-4450-A933-931192249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951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CDA4-CB25-AA64-3D0F-9B514B867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9DA0E-EE89-87CC-AEA6-03EFC0DA2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1BF40-8D1D-3AB6-B439-F26C0B2D4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62B3E-4D25-491A-BD3C-8520BE00BE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91E69-309F-1735-0B63-DEF0001E4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343D5-7C2E-7B52-668C-62498BFC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6F33-D9C8-4450-A933-931192249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06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C8F6D-C720-6D54-25AD-36FD30D04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26438-EBAF-250E-507F-3A4A06D9EF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1A58F-DA02-A1B5-7589-36E314ADD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3BC2A-7CDE-7723-A9DC-CC13F217F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62B3E-4D25-491A-BD3C-8520BE00BE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9263B-188A-DF36-CD59-94D5F3E0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6AFB3-4221-EFCE-E8F3-4429CDB99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6F33-D9C8-4450-A933-931192249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11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AAF36-47A5-1EF0-F4C0-D6B187FE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06C5A-317E-8825-CF25-1D1264D5F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C545A-A536-9AEE-BACD-8A43D805A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130C3-0FB4-CCC9-C7CD-1F3C5F23E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9D8729-573F-E87B-61C5-FD021ABAEB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5B698-F636-BEFE-6522-7D50CF3C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62B3E-4D25-491A-BD3C-8520BE00BE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53C4EF-3EBC-842D-E3FF-20A072AEA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F5FE53-9083-B563-33F5-ADB3CFF8F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6F33-D9C8-4450-A933-931192249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0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1975-96F1-CBC1-9B6A-93DD16CC5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257BDA-6C55-414E-1448-2AC6A15E6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62B3E-4D25-491A-BD3C-8520BE00BE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8AC155-1C70-E52B-8F80-E3EA18CA2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89B14-F56A-401B-C8D6-30F1022E0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6F33-D9C8-4450-A933-931192249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104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E94FB-C91B-DA58-9B26-C22F4763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62B3E-4D25-491A-BD3C-8520BE00BE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E3F6F1-87B3-5172-2DA0-46CEB731D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858D5-C48D-657E-4397-FC8655C9F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6F33-D9C8-4450-A933-931192249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323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5984F-4A0A-E43D-D366-9EC5904C4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650B8-9A14-1179-AB51-DC83F0AFA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4E7BF-99D1-5791-E75F-838360D1B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69316-6E3F-334B-70A8-A7E9E49C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62B3E-4D25-491A-BD3C-8520BE00BE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AFA29-E9A7-872B-9943-B875F400F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29E14-AEF7-A54B-4546-65717CEED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6F33-D9C8-4450-A933-931192249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459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36B47-AAA0-1CD6-E766-DCE763A3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CA02DD-4EED-456A-DB72-2D22A543D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9F7D8-DC59-9A08-4AC4-B74B62646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9ECE2-634F-1601-E523-5642FF9ED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62B3E-4D25-491A-BD3C-8520BE00BE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A7CAD-CC26-BFA0-B47C-9013B895F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8F9EF-6AAA-1D62-EC5D-9F850F61A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6F33-D9C8-4450-A933-931192249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66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F2784-D210-BD92-DA03-1FED1F2A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87AE4A-3DC3-F125-7929-34D1A4405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FF586-8832-0DD6-53D1-04988DDE4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62B3E-4D25-491A-BD3C-8520BE00BE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50283-6B67-F93C-478D-96EC9C805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CD809-4C48-0880-3065-95E45B6B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6F33-D9C8-4450-A933-931192249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17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2C412E-8638-04F5-2774-77EB67DFBC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31D73-558F-959A-D6BE-487273A72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15964-C3F3-75EB-E36F-CDC58540D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62B3E-4D25-491A-BD3C-8520BE00BE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D4155-9767-4EC6-E91C-E2E3C94A0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60283-0A63-5D82-7CCA-C2DEB3FE8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6F33-D9C8-4450-A933-931192249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889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19680-98BF-667F-48ED-90C512884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2EB78-9C9C-7C52-932D-1397F84C3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A6541-DE61-06FF-82BE-5AAC85CE03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462B3E-4D25-491A-BD3C-8520BE00BE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D0F6-AB96-B81A-73D3-AA147C06C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366FC-D898-3E6B-801A-5B1F42277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0D6F33-D9C8-4450-A933-931192249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006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FC95083-CAA7-21FD-0EFE-B298B823182F}"/>
              </a:ext>
            </a:extLst>
          </p:cNvPr>
          <p:cNvSpPr txBox="1"/>
          <p:nvPr/>
        </p:nvSpPr>
        <p:spPr>
          <a:xfrm>
            <a:off x="1492762" y="1880219"/>
            <a:ext cx="920647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MLA03 - Reinforcement learning for Environment and Agent</a:t>
            </a:r>
          </a:p>
          <a:p>
            <a:pPr algn="ctr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OUTCOME 4</a:t>
            </a: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TOOL 1</a:t>
            </a:r>
          </a:p>
          <a:p>
            <a:pPr algn="ctr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The image depicts the logos of SIMATS and SAVEETHA Engineering Institute, emphasizing their focus on medical and technical sciences, and their accreditation by AICTE and IET-UK.&#10;&#10;AI-generated content may be incorrect.">
            <a:extLst>
              <a:ext uri="{FF2B5EF4-FFF2-40B4-BE49-F238E27FC236}">
                <a16:creationId xmlns:a16="http://schemas.microsoft.com/office/drawing/2014/main" id="{20DEDC87-5664-716A-3858-CD299CDA5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49" y="392658"/>
            <a:ext cx="10332502" cy="10729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42106C-CD83-EF93-F53F-5F7827D1CEA9}"/>
              </a:ext>
            </a:extLst>
          </p:cNvPr>
          <p:cNvSpPr txBox="1"/>
          <p:nvPr/>
        </p:nvSpPr>
        <p:spPr>
          <a:xfrm>
            <a:off x="8932439" y="5433059"/>
            <a:ext cx="2784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P. Sahith Sai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(192425029)</a:t>
            </a:r>
          </a:p>
        </p:txBody>
      </p:sp>
    </p:spTree>
    <p:extLst>
      <p:ext uri="{BB962C8B-B14F-4D97-AF65-F5344CB8AC3E}">
        <p14:creationId xmlns:p14="http://schemas.microsoft.com/office/powerpoint/2010/main" val="1688609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23358-53F2-9B28-3D9A-E7647392D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42E3C6-9F61-BE20-F857-2D54620A5BF0}"/>
              </a:ext>
            </a:extLst>
          </p:cNvPr>
          <p:cNvSpPr txBox="1"/>
          <p:nvPr/>
        </p:nvSpPr>
        <p:spPr>
          <a:xfrm>
            <a:off x="2587517" y="2485382"/>
            <a:ext cx="8283052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for Sequential Decision-Making in Reinforcement Learning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Bellman Principle of Optimality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Evaluation and Policy Improvement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Iteration vs. Policy Iteration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Applications 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ENGINEER TO EXCEL&#10;&#10;AI-generated content may be incorrect.">
            <a:extLst>
              <a:ext uri="{FF2B5EF4-FFF2-40B4-BE49-F238E27FC236}">
                <a16:creationId xmlns:a16="http://schemas.microsoft.com/office/drawing/2014/main" id="{04E45D01-1C57-7806-77BC-ED55FAB96C7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CE1A76-56D7-259B-7AD6-936CA097929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6692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AD515-8A15-3E19-0709-44A30E6F8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6E8DA2-8F4A-0AB6-2F3E-5032C6DA986D}"/>
              </a:ext>
            </a:extLst>
          </p:cNvPr>
          <p:cNvSpPr txBox="1"/>
          <p:nvPr/>
        </p:nvSpPr>
        <p:spPr>
          <a:xfrm>
            <a:off x="2095737" y="1491469"/>
            <a:ext cx="7854753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Bellman Principle: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optimal policy has the property that, regardless of the initial state and first decision, the remaining decisions must form an optimal policy for the resulting state.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Bellman Equation: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V∗(s)=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​[R(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γs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′∑​P(s′∣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)V∗(s′)]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V∗(s) = optimal value of state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immediate reward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P(s′∣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transition probability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 = discount factor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Break a complex sequential problem into smaller subproblems.</a:t>
            </a:r>
          </a:p>
        </p:txBody>
      </p:sp>
      <p:pic>
        <p:nvPicPr>
          <p:cNvPr id="7" name="Picture 6" descr="ENGINEER TO EXCEL&#10;&#10;AI-generated content may be incorrect.">
            <a:extLst>
              <a:ext uri="{FF2B5EF4-FFF2-40B4-BE49-F238E27FC236}">
                <a16:creationId xmlns:a16="http://schemas.microsoft.com/office/drawing/2014/main" id="{957E491B-9440-3BB9-A648-8F545DEB5FC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2DEFC6-010A-8BE1-9417-33F7F4B0D3A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2148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A82DD-A592-DAB6-8F94-62FD0C54D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2FB58A-439A-EB29-794E-2E605D146183}"/>
              </a:ext>
            </a:extLst>
          </p:cNvPr>
          <p:cNvSpPr txBox="1"/>
          <p:nvPr/>
        </p:nvSpPr>
        <p:spPr>
          <a:xfrm>
            <a:off x="2610234" y="1414130"/>
            <a:ext cx="8612465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Evaluation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value of each state under a given policy.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Repeatedly applies the Bellman expectation equation.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how good the current policy is.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Improvement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actions that provide higher expected returns.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the existing policy using the calculated value function.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Policy → Policy Evaluation → Policy Improvement → Updated Policy → Repeat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continues until the policy becomes stable.</a:t>
            </a:r>
          </a:p>
        </p:txBody>
      </p:sp>
      <p:pic>
        <p:nvPicPr>
          <p:cNvPr id="7" name="Picture 6" descr="ENGINEER TO EXCEL&#10;&#10;AI-generated content may be incorrect.">
            <a:extLst>
              <a:ext uri="{FF2B5EF4-FFF2-40B4-BE49-F238E27FC236}">
                <a16:creationId xmlns:a16="http://schemas.microsoft.com/office/drawing/2014/main" id="{5D7FFADA-ECC1-E7FF-AA45-CB7E5D94F23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A73D8B-C82C-5B14-C514-D9E52363C39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9793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FF2C4-EA17-1CC5-3C41-9543661C1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0DBF36-D93F-80DD-242A-403A4DAEC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406221"/>
              </p:ext>
            </p:extLst>
          </p:nvPr>
        </p:nvGraphicFramePr>
        <p:xfrm>
          <a:off x="1088986" y="2500769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155833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0007068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94678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 Iteration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Policy Iteration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194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 value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 policy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86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524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 per iteration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996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iterations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Usually more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Usually fewer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716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per iteration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per iteration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0556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B9E6846-D73C-CF45-E31E-EAFA266ED13D}"/>
              </a:ext>
            </a:extLst>
          </p:cNvPr>
          <p:cNvSpPr txBox="1"/>
          <p:nvPr/>
        </p:nvSpPr>
        <p:spPr>
          <a:xfrm>
            <a:off x="917181" y="1835933"/>
            <a:ext cx="6095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Iteration vs. Policy Iteration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6C46F0-C117-5D83-ABAF-0500D98591BE}"/>
              </a:ext>
            </a:extLst>
          </p:cNvPr>
          <p:cNvSpPr txBox="1"/>
          <p:nvPr/>
        </p:nvSpPr>
        <p:spPr>
          <a:xfrm>
            <a:off x="1012874" y="5160536"/>
            <a:ext cx="8945969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Iteration: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Directly updates values using the maximum action value.</a:t>
            </a:r>
          </a:p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Iteration: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Alternates between policy evaluation and policy improvement.</a:t>
            </a:r>
          </a:p>
        </p:txBody>
      </p:sp>
      <p:pic>
        <p:nvPicPr>
          <p:cNvPr id="10" name="Picture 9" descr="ENGINEER TO EXCEL&#10;&#10;AI-generated content may be incorrect.">
            <a:extLst>
              <a:ext uri="{FF2B5EF4-FFF2-40B4-BE49-F238E27FC236}">
                <a16:creationId xmlns:a16="http://schemas.microsoft.com/office/drawing/2014/main" id="{E614FDF7-B714-52BE-3BA8-5EF948555D5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16ADF0-3569-3B2F-3B83-F13A4BA2C42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7773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F7C12-7AA2-1D2D-FA16-3E2F70E2F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AE997B-513F-2CC8-53AE-B30295F117BF}"/>
              </a:ext>
            </a:extLst>
          </p:cNvPr>
          <p:cNvSpPr txBox="1"/>
          <p:nvPr/>
        </p:nvSpPr>
        <p:spPr>
          <a:xfrm>
            <a:off x="2063336" y="1389231"/>
            <a:ext cx="7970679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Applications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can be applied to: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Optimal motion and path planning.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Deciding when and how much to reorder.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and fleet optimization.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Production scheduling.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systems: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Optimal power distribution.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Sequential investment decisions.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mathematically optimal solutions for known models.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finite and well-defined environments.</a:t>
            </a:r>
          </a:p>
        </p:txBody>
      </p:sp>
      <p:pic>
        <p:nvPicPr>
          <p:cNvPr id="7" name="Picture 6" descr="ENGINEER TO EXCEL&#10;&#10;AI-generated content may be incorrect.">
            <a:extLst>
              <a:ext uri="{FF2B5EF4-FFF2-40B4-BE49-F238E27FC236}">
                <a16:creationId xmlns:a16="http://schemas.microsoft.com/office/drawing/2014/main" id="{F106E79B-BE8E-0BB5-1B87-5CDA54CA33D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21DD6C-40BE-A0B3-EE4F-CB098784F9A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084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47185-8C09-59FE-D538-439C75BB5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4B076D-1484-1E32-B3A7-1C5C3A80ABBE}"/>
              </a:ext>
            </a:extLst>
          </p:cNvPr>
          <p:cNvSpPr txBox="1"/>
          <p:nvPr/>
        </p:nvSpPr>
        <p:spPr>
          <a:xfrm>
            <a:off x="1820784" y="1650495"/>
            <a:ext cx="8674937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provides a foundation for solving sequential decision-making problems.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Bellman Principle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problems to be divided into smaller subproblems.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Iteration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policies through evaluation and improvement.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Iteration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directly searches for optimal state values.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are useful in robotics, transportation, manufacturing, and resource management.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 → Bellman Equation → Value Function → Optimal Policy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ENGINEER TO EXCEL&#10;&#10;AI-generated content may be incorrect.">
            <a:extLst>
              <a:ext uri="{FF2B5EF4-FFF2-40B4-BE49-F238E27FC236}">
                <a16:creationId xmlns:a16="http://schemas.microsoft.com/office/drawing/2014/main" id="{AE256C81-EBC3-9B1A-64A2-A7EA2365E35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D89526-EEE8-3A83-5FDD-5D277A8FA81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8521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7F1E1-0096-60DF-DE10-8D97C7FB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A42FB8-AB4E-24D5-E506-FC02823DF4A9}"/>
              </a:ext>
            </a:extLst>
          </p:cNvPr>
          <p:cNvSpPr txBox="1"/>
          <p:nvPr/>
        </p:nvSpPr>
        <p:spPr>
          <a:xfrm>
            <a:off x="2383055" y="1677194"/>
            <a:ext cx="7913884" cy="2812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Methods and Temporal-Difference Learning: A Comparative Study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Prediction and Control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TD(0), SARSA and Q-Learning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Efficiency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Performance Comparison</a:t>
            </a:r>
          </a:p>
        </p:txBody>
      </p:sp>
      <p:pic>
        <p:nvPicPr>
          <p:cNvPr id="7" name="Picture 6" descr="ENGINEER TO EXCEL&#10;&#10;AI-generated content may be incorrect.">
            <a:extLst>
              <a:ext uri="{FF2B5EF4-FFF2-40B4-BE49-F238E27FC236}">
                <a16:creationId xmlns:a16="http://schemas.microsoft.com/office/drawing/2014/main" id="{21CC14D1-90F7-FE17-8F57-50BCEA27F5E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5D20E4-27A8-D250-865D-AA200FC5D69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8586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1B1AC-3EAC-6477-28F0-532BD159A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4542F6-EE03-1A14-5168-CBE63EF55446}"/>
              </a:ext>
            </a:extLst>
          </p:cNvPr>
          <p:cNvSpPr txBox="1"/>
          <p:nvPr/>
        </p:nvSpPr>
        <p:spPr>
          <a:xfrm>
            <a:off x="2388734" y="1306237"/>
            <a:ext cx="8004756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Prediction and Control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(MC)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from complete episodes.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Waits until an episode finishes before updating values.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value using the actual return received.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V(s)←V(s)+α[Gt​−V(s)]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 Control: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action values Q(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the policy based on estimated returns.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when complete episodes are available.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Cannot update until the episode terminates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969682D6-5D45-7C05-216D-B5C1DA6961F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F34D5A-A96E-BC27-EB98-C4B4CE36E54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407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DAD89-FAF1-922C-29AD-0071E2157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B66158-5083-657B-16FF-4795F8BB905E}"/>
              </a:ext>
            </a:extLst>
          </p:cNvPr>
          <p:cNvSpPr txBox="1"/>
          <p:nvPr/>
        </p:nvSpPr>
        <p:spPr>
          <a:xfrm>
            <a:off x="2047963" y="1098689"/>
            <a:ext cx="9708608" cy="5859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Temporal-Difference Learning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directly from experience without waiting for the episode to finish.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ideas from Dynamic Programming and Monte Carlo methods.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TD(0):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V(s)←V(s)+α[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r+γV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(s′)−V(s)]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SARSA: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On-policy algorithm.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using the action actually selected.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)←Q(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)+α[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r+γQ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s′,a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′)−Q(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Q-Learning: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Off-policy algorithm.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maximum future action value.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)←Q(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)+α[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r+γa′max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​Q(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s′,a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′)−Q(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87997FEC-170C-43CA-655D-6AB0D67F3BA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96882A-12C5-D54C-0382-89D0C7D4F14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9375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FF007-8A9A-1750-667E-9CB3E06BB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1009CF-0AA2-D327-BD5A-4C2BAE39BD2A}"/>
              </a:ext>
            </a:extLst>
          </p:cNvPr>
          <p:cNvSpPr txBox="1"/>
          <p:nvPr/>
        </p:nvSpPr>
        <p:spPr>
          <a:xfrm>
            <a:off x="1963528" y="1231509"/>
            <a:ext cx="9368934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Efficiency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complete episodes.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require many samples.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episodic tasks.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after every step.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learn before an episode finishes.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 more sample-efficient for many sequential tasks.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 → Complete Episode → Update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 → One Step → Update → Continue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difference: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TD learns from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bootstrapping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MC learns from actual complete returns.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ABCEFA6B-7E23-2842-3B45-4C784672E18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69A794-33C7-716B-AA60-868E1AD9D2C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4172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46AC8-4695-D7A3-8B40-3457B9EF3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8DF1AC-2B54-78A1-60D0-42D4A4FE7634}"/>
              </a:ext>
            </a:extLst>
          </p:cNvPr>
          <p:cNvSpPr txBox="1"/>
          <p:nvPr/>
        </p:nvSpPr>
        <p:spPr>
          <a:xfrm>
            <a:off x="1724232" y="1170331"/>
            <a:ext cx="9144443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Performance Comparison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experiment can use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FrozenLake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GridWorld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CliffWalking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cumulative reward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episodes to convergence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time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observation: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 can perform well when episodes are short.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TD(0) learns incrementally.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SARSA provides safer on-policy learning.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Q-Learning can learn an aggressive optimal policy.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Suggested graph: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Episodes vs. Average Reward for MC, SARSA and Q-Learning.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49B91BA3-FEC2-1084-C7F5-962AB376643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4BE000-FD70-5562-505F-156560B28A0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2705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7E1F9-1B2E-3369-5372-7F2E7958A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B917BB-C0CD-02A8-F507-A8EF1A4E46CB}"/>
              </a:ext>
            </a:extLst>
          </p:cNvPr>
          <p:cNvSpPr txBox="1"/>
          <p:nvPr/>
        </p:nvSpPr>
        <p:spPr>
          <a:xfrm>
            <a:off x="1968451" y="1742261"/>
            <a:ext cx="6095114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methods learn from complete episodes.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 methods learn incrementally using bootstrapping.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SARSA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on-policy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Q-Learning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off-policy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 methods are often more sample-efficient.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depends on environment, exploration, learning rate and reward structure.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 = Complete Returns | TD = Step-by-Step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5C3A2156-D821-6157-AD7D-0DCBE1C5CE8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121934-9853-EBB4-DA19-7707957BA17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4373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117E5-C203-AF71-F3FE-C21AE9054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94E49D-4B92-E50A-49BF-F88C9B480337}"/>
              </a:ext>
            </a:extLst>
          </p:cNvPr>
          <p:cNvSpPr txBox="1"/>
          <p:nvPr/>
        </p:nvSpPr>
        <p:spPr>
          <a:xfrm>
            <a:off x="3047557" y="2413338"/>
            <a:ext cx="60951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Q-Networks for Intelligent Decision-Making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Architecture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Replay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Networks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and Autonomous Systems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BA325B7C-DBDF-0303-6B4C-96A407396E7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22EAD3-D37D-9DC5-87C8-4F3D4D78228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9335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8169E-19F9-E2CF-27B2-89643102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1284C3-8045-81E0-E382-56F7BEE8DA1D}"/>
              </a:ext>
            </a:extLst>
          </p:cNvPr>
          <p:cNvSpPr txBox="1"/>
          <p:nvPr/>
        </p:nvSpPr>
        <p:spPr>
          <a:xfrm>
            <a:off x="1877578" y="1414130"/>
            <a:ext cx="8561347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Architecture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Q-Network (DQN)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combines: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Networks + Q-Learning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storing a Q-table, a neural network approximates: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s,a;θ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→ State → Neural Network → Q-values → Best Action → Environment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layers: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layer: State/observation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layers: Feature extraction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 Q-value for each action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is especially useful when the state space is too large for a traditional Q-table.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3CE1CDEC-6A8E-FBEE-428A-C59E86C24A8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57903C-60AE-414D-86C7-675DEAD9589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1953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7D659-8A6C-CD5F-EFE8-A428E141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E456D7-964A-4F86-87F9-9FE538CEF57D}"/>
              </a:ext>
            </a:extLst>
          </p:cNvPr>
          <p:cNvSpPr txBox="1"/>
          <p:nvPr/>
        </p:nvSpPr>
        <p:spPr>
          <a:xfrm>
            <a:off x="1866220" y="224045"/>
            <a:ext cx="8545405" cy="66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Replay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Consecutive experiences are highly correlated.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Experience Replay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stores experiences: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s,a,r,s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′)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 Buffer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training: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new experience.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sample a mini-batch.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neural network.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Breaks correlation between samples.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Reuses previous experiences.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sample efficiency.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training more stable.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9D89DA2E-5451-5F17-2829-F6582854CAB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03C082-EA6C-0C67-069D-821C25F4DD3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5848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3DFF8-74A7-7720-34A8-65B758C9C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FC647F-7C48-5402-67BF-03860A14C9EB}"/>
              </a:ext>
            </a:extLst>
          </p:cNvPr>
          <p:cNvSpPr txBox="1"/>
          <p:nvPr/>
        </p:nvSpPr>
        <p:spPr>
          <a:xfrm>
            <a:off x="2456887" y="733903"/>
            <a:ext cx="7577127" cy="5859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Networks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uses two networks: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Online Network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frequently.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actions.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the Q-values.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Target Network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stable target Q-values.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periodically from the online network.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r+γa′max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Qtarget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s′,a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′)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Loss: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L=(y−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Qonline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))2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unstable feedback during training.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6DF5FEF1-DA73-E6AA-DE6F-4534959B1FC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0878FD-175B-2469-A840-53973D23CBD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1642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DE972-FB02-7743-DF15-18BAA051F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009598-15CC-39ED-3202-3EB3D42CB995}"/>
              </a:ext>
            </a:extLst>
          </p:cNvPr>
          <p:cNvSpPr txBox="1"/>
          <p:nvPr/>
        </p:nvSpPr>
        <p:spPr>
          <a:xfrm>
            <a:off x="2758918" y="574877"/>
            <a:ext cx="6095114" cy="5859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Applications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navigation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planning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exploration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Systems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 decision-making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signal control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navigation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robots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warehouse robot can learn which movement action minimizes travel distance while avoiding obstacles.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F0159220-2D4B-95ED-16F4-099FEF60FCD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589CAB-E5B3-1D58-C4F0-0B4AA02299D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4725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28833-1FD8-8035-E7B8-722DDBA84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93C884-4419-370E-C34F-1F2F15F5A220}"/>
              </a:ext>
            </a:extLst>
          </p:cNvPr>
          <p:cNvSpPr txBox="1"/>
          <p:nvPr/>
        </p:nvSpPr>
        <p:spPr>
          <a:xfrm>
            <a:off x="1701515" y="1622991"/>
            <a:ext cx="8760130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combines Q-Learning with deep neural networks.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handles high-dimensional state spaces.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Replay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sample utilization.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Networks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training stability.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can support intelligent decision-making in robotics and autonomous systems.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= Q-Learning + Neural Network + Experience Replay + Target Network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7CD5C36D-464B-D7A3-11AF-F14802C10DE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419E5E-D1CD-9F3D-E1A2-39A05512A58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6221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E46CE-C1D5-8E7E-0BF7-9B4A4F358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C284FD-AD3A-C129-713A-817564B40FB0}"/>
              </a:ext>
            </a:extLst>
          </p:cNvPr>
          <p:cNvSpPr txBox="1"/>
          <p:nvPr/>
        </p:nvSpPr>
        <p:spPr>
          <a:xfrm>
            <a:off x="2249808" y="2022717"/>
            <a:ext cx="7692383" cy="2812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Advanced Deep Q-Learning Algorithms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DQN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Dueling DQN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Prioritized Experience Replay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Performance Comparison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1F892F9A-8FB3-C2A6-8E2C-65D69F112A7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142ED6-610E-8320-987D-F1C4423E18C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7941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70AC1-3932-70B8-10A5-EE7459A3A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E29511-D57A-A487-EEB3-80AC11336DA1}"/>
              </a:ext>
            </a:extLst>
          </p:cNvPr>
          <p:cNvSpPr txBox="1"/>
          <p:nvPr/>
        </p:nvSpPr>
        <p:spPr>
          <a:xfrm>
            <a:off x="1712875" y="1381761"/>
            <a:ext cx="9619587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DQN (DDQN)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with standard DQN: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overestimate action values because the same network is used to select and evaluate actions.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DQN Solution: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network selects the action: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a∗=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argamax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Qonline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s′,a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network evaluates it: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r+γQtarget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s′,a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∗)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overestimation bias.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value estimation.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provide more stable learning.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1B8EAF4C-3D04-BDBF-E63A-EEE2739F889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658B84-B4F7-38DA-4CA7-420769FBE43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2428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0605B-4378-9D09-4DCC-FC59850ED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357776-FB5F-F850-CEA1-FD2088A66D1C}"/>
              </a:ext>
            </a:extLst>
          </p:cNvPr>
          <p:cNvSpPr txBox="1"/>
          <p:nvPr/>
        </p:nvSpPr>
        <p:spPr>
          <a:xfrm>
            <a:off x="2496866" y="1283501"/>
            <a:ext cx="7198267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Dueling DQN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Dueling DQN separates the network into two streams: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Value: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V(s)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Advantage: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as: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)=V(s)+A(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the importance of states separately from actions.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when many actions have similar outcomes.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improve learning efficiency and policy quality.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9E0767DC-4294-928D-C7E8-8D7FFDB95E1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FCD65A-7C4A-7A99-F287-96CA2F8A5B2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0560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A26B8-FF8E-2214-1B5A-F6E8D8B55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6D4DF0-924A-A057-FF3C-78C93A4AC560}"/>
              </a:ext>
            </a:extLst>
          </p:cNvPr>
          <p:cNvSpPr txBox="1"/>
          <p:nvPr/>
        </p:nvSpPr>
        <p:spPr>
          <a:xfrm>
            <a:off x="1911656" y="1802544"/>
            <a:ext cx="8237616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Prioritized Experience Replay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DQN samples experiences randomly.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gives higher priority to experiences that contain more learning information.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is often related to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 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δ=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r+γmaxQ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s′,a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′)−Q(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TD error → Higher priority.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learning on important experiences.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sample efficiency.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speed up learning.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0B495E31-6D09-28B8-2A20-FAF83EC0CA1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19BE70-67BD-7611-6B33-BC702EEDCF3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5411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9F200-DC2F-696D-2851-718C7A79F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CB402D-03C1-34DB-008E-D3FBAF5C6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987311"/>
              </p:ext>
            </p:extLst>
          </p:nvPr>
        </p:nvGraphicFramePr>
        <p:xfrm>
          <a:off x="4735033" y="2427676"/>
          <a:ext cx="7290392" cy="2268220"/>
        </p:xfrm>
        <a:graphic>
          <a:graphicData uri="http://schemas.openxmlformats.org/drawingml/2006/table">
            <a:tbl>
              <a:tblPr/>
              <a:tblGrid>
                <a:gridCol w="3645196">
                  <a:extLst>
                    <a:ext uri="{9D8B030D-6E8A-4147-A177-3AD203B41FA5}">
                      <a16:colId xmlns:a16="http://schemas.microsoft.com/office/drawing/2014/main" val="3311282752"/>
                    </a:ext>
                  </a:extLst>
                </a:gridCol>
                <a:gridCol w="3645196">
                  <a:extLst>
                    <a:ext uri="{9D8B030D-6E8A-4147-A177-3AD203B41FA5}">
                      <a16:colId xmlns:a16="http://schemas.microsoft.com/office/drawing/2014/main" val="1749676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Improvement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973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DQN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366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DDQN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overestimation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016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Dueling DQN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Separates value and advantage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796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DQN + 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Prioritizes important experiences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968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1760E0A-FB3C-EB88-2C96-02F021875CEE}"/>
              </a:ext>
            </a:extLst>
          </p:cNvPr>
          <p:cNvSpPr txBox="1"/>
          <p:nvPr/>
        </p:nvSpPr>
        <p:spPr>
          <a:xfrm>
            <a:off x="543589" y="1406627"/>
            <a:ext cx="4480295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Performance Comparison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can be tested using: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CartPole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LunarLander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Atari environments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reward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Convergence speed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stability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training episodes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comparison: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Episode vs. Average Reward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used to compare performance.</a:t>
            </a:r>
          </a:p>
        </p:txBody>
      </p:sp>
      <p:pic>
        <p:nvPicPr>
          <p:cNvPr id="6" name="Picture 5" descr="ENGINEER TO EXCEL&#10;&#10;AI-generated content may be incorrect.">
            <a:extLst>
              <a:ext uri="{FF2B5EF4-FFF2-40B4-BE49-F238E27FC236}">
                <a16:creationId xmlns:a16="http://schemas.microsoft.com/office/drawing/2014/main" id="{E044F970-70F9-7951-CE23-61B840AB2E6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CFD761-E2FA-783C-160A-A34B8C41A5F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1214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11701-90FA-7404-C6FC-61324DF5F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2D9E6D-FEBF-2A19-EDAD-B8D12BF8B0FA}"/>
              </a:ext>
            </a:extLst>
          </p:cNvPr>
          <p:cNvSpPr txBox="1"/>
          <p:nvPr/>
        </p:nvSpPr>
        <p:spPr>
          <a:xfrm>
            <a:off x="2019566" y="1583235"/>
            <a:ext cx="8447757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DDQN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overestimation bias.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Dueling DQN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value and action representation.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learning on valuable experiences.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DQN algorithms generally improve learning efficiency and stability.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algorithm depends on the environment and computational requirements.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→ DDQN + Dueling + PER → More efficient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869E08D9-BEB7-2CC1-3E0D-5A4F7ACEF57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839DC4-FAFF-03FF-6578-19D29226086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97296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498E2-7DCD-1FD8-7BAA-DAC4F4B09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77F537-6D7A-BA93-7D9F-D67D7E7B6C02}"/>
              </a:ext>
            </a:extLst>
          </p:cNvPr>
          <p:cNvSpPr txBox="1"/>
          <p:nvPr/>
        </p:nvSpPr>
        <p:spPr>
          <a:xfrm>
            <a:off x="3047557" y="2136339"/>
            <a:ext cx="7255062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Policy-Based Reinforcement Learning for Continuous Control Problems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Vanilla Policy Gradient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 Algorithm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Policy Search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and Autonomous Driving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937C127F-EE1A-AE6C-8549-0A8A518C591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0BBF4B-A3B0-BBCB-5EA6-EACF45DF2D6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3125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EC966-E384-0656-2E6B-113F153D6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BFFFBE-953E-E307-4CC9-1F68EF4C2CF9}"/>
              </a:ext>
            </a:extLst>
          </p:cNvPr>
          <p:cNvSpPr txBox="1"/>
          <p:nvPr/>
        </p:nvSpPr>
        <p:spPr>
          <a:xfrm>
            <a:off x="2138836" y="1576662"/>
            <a:ext cx="8879399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Policy-Based Reinforcement Learning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value-based RL, policy-based methods directly learn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πθ​(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a∣s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policy determines the probability of selecting an action given a state.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Naturally handles continuous action spaces.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learn stochastic policies.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optimizes expected return.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complex control problems.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→ Policy Network → Action → Environment → Reward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727F0D90-F2A4-5773-061D-574EB2473CC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590196-0FC9-CF98-6CFD-D7A691B1456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88346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579B6-88D1-ADC4-2D25-ADBF34B8F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B1DF35-EA5B-9AFD-4806-EF4A8A332725}"/>
              </a:ext>
            </a:extLst>
          </p:cNvPr>
          <p:cNvSpPr txBox="1"/>
          <p:nvPr/>
        </p:nvSpPr>
        <p:spPr>
          <a:xfrm>
            <a:off x="1860762" y="1335930"/>
            <a:ext cx="8470476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Vanilla Policy Gradient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Gradient directly adjusts policy parameters θ to maximize expected reward.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is: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J(θ)=Eπθ​​[Gt​]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policy parameters are updated using:</a:t>
            </a:r>
          </a:p>
          <a:p>
            <a:pPr>
              <a:lnSpc>
                <a:spcPct val="150000"/>
              </a:lnSpc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θ←θ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+α∇θ​J(θ)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state.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action using policy.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rewards.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return.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policy parameters.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232C5A76-EF74-A8DC-6903-90E65CAFFAB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89E1E0-29E6-9123-6D8A-30C315B47A6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4068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2D8EE-7DF1-5017-EDF1-A0AFC9B2A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4B1036-1725-6EF6-34D9-574E7EC797B9}"/>
              </a:ext>
            </a:extLst>
          </p:cNvPr>
          <p:cNvSpPr txBox="1"/>
          <p:nvPr/>
        </p:nvSpPr>
        <p:spPr>
          <a:xfrm>
            <a:off x="1215238" y="1573575"/>
            <a:ext cx="5764872" cy="4612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 Algorithm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Monte Carlo policy-gradient algorithm.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policy parameters.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 entire episode.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 return Gt​.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policy gradient.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policy parameters.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performance improves.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update:</a:t>
            </a:r>
          </a:p>
          <a:p>
            <a:pPr>
              <a:lnSpc>
                <a:spcPct val="150000"/>
              </a:lnSpc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θ←θ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+αGt​∇θ​logπθ​(at​∣st​) 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CC7BB3EA-4649-F235-A35B-C93B03B570E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16127E-F249-FAA2-23E7-4CF55B5E97B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C99F35F-522A-DAFF-8488-A4330BE8B769}"/>
              </a:ext>
            </a:extLst>
          </p:cNvPr>
          <p:cNvSpPr txBox="1"/>
          <p:nvPr/>
        </p:nvSpPr>
        <p:spPr>
          <a:xfrm>
            <a:off x="7359217" y="2612161"/>
            <a:ext cx="4346239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implement.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optimizes the policy. </a:t>
            </a:r>
          </a:p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variance in gradient estimates.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require many training episodes.</a:t>
            </a:r>
          </a:p>
        </p:txBody>
      </p:sp>
    </p:spTree>
    <p:extLst>
      <p:ext uri="{BB962C8B-B14F-4D97-AF65-F5344CB8AC3E}">
        <p14:creationId xmlns:p14="http://schemas.microsoft.com/office/powerpoint/2010/main" val="10297930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4CB59-4713-704D-FBC8-757141FA4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DCBBB7-480F-7407-4634-56032F0E957A}"/>
              </a:ext>
            </a:extLst>
          </p:cNvPr>
          <p:cNvSpPr txBox="1"/>
          <p:nvPr/>
        </p:nvSpPr>
        <p:spPr>
          <a:xfrm>
            <a:off x="787115" y="1614629"/>
            <a:ext cx="5308885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Policy Search &amp; Applications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Policy Search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policy assigns probabilities to possible actions.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exploration naturally.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Particularly useful in uncertain environments.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Applications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arm control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Locomotion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control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manipulation 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8ED17455-F13C-47F7-7EB1-6ABA722D194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C16E0A-4CC9-AC77-277A-F75F123A137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37051"/>
            <a:ext cx="1298447" cy="94154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4103E8-7DF7-0242-C2C5-9566BBA328F9}"/>
              </a:ext>
            </a:extLst>
          </p:cNvPr>
          <p:cNvSpPr txBox="1"/>
          <p:nvPr/>
        </p:nvSpPr>
        <p:spPr>
          <a:xfrm>
            <a:off x="6458542" y="2092601"/>
            <a:ext cx="5308885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Driving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Steering control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Acceleration control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changing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under uncertainty </a:t>
            </a:r>
          </a:p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robotic arm can learn continuous joint movements to reach a target while minimizing movement time.</a:t>
            </a:r>
          </a:p>
        </p:txBody>
      </p:sp>
    </p:spTree>
    <p:extLst>
      <p:ext uri="{BB962C8B-B14F-4D97-AF65-F5344CB8AC3E}">
        <p14:creationId xmlns:p14="http://schemas.microsoft.com/office/powerpoint/2010/main" val="41080806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EE7CF-E9CA-0193-DEFA-7BD67016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1AA261-8140-ADB6-31B5-45604D5E406C}"/>
              </a:ext>
            </a:extLst>
          </p:cNvPr>
          <p:cNvSpPr txBox="1"/>
          <p:nvPr/>
        </p:nvSpPr>
        <p:spPr>
          <a:xfrm>
            <a:off x="1667437" y="1519867"/>
            <a:ext cx="8089949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Policy-based RL directly optimizes the policy.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suitable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control problems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Vanilla Policy Gradient provides the basic policy optimization approach.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 uses complete episodes to update the policy.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policies provide natural exploration.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include robotics, drones, autonomous vehicles, and industrial control.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Gradient → Direct Policy Optimization → Continuous Control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54BB5F8F-74B1-057F-4C1D-F4F06FDD8B6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8" y="377456"/>
            <a:ext cx="979897" cy="103667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9C3A5A-A7B8-7668-E15F-827FE949C1A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5" y="447683"/>
            <a:ext cx="1298447" cy="941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8038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2001</Words>
  <Application>Microsoft Office PowerPoint</Application>
  <PresentationFormat>Widescreen</PresentationFormat>
  <Paragraphs>337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Sahith sai Pasupula</dc:creator>
  <cp:lastModifiedBy>Sahith sai Pasupula</cp:lastModifiedBy>
  <cp:revision>1</cp:revision>
  <dcterms:created xsi:type="dcterms:W3CDTF">2026-08-20T08:33:58Z</dcterms:created>
  <dcterms:modified xsi:type="dcterms:W3CDTF">2026-08-20T08:34:43Z</dcterms:modified>
</cp:coreProperties>
</file>